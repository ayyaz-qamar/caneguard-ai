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78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"/>
            <a:ext cx="2286000" cy="2286000"/>
          </a:xfrm>
          <a:prstGeom prst="ellipse">
            <a:avLst/>
          </a:prstGeom>
          <a:solidFill>
            <a:srgbClr val="166534">
              <a:alpha val="30000"/>
            </a:srgbClr>
          </a:solidFill>
          <a:ln w="12700">
            <a:solidFill>
              <a:srgbClr val="16653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3383280"/>
            <a:ext cx="1371600" cy="1371600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6534">
              <a:alpha val="40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28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Khwaja Fareed University of Engineering &amp; Information Technology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Data Science &amp; Artificial Intelligence  |  Batch 2022-26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CaneGuard AI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Sugarcane Disease Detection System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286000" y="2633472"/>
            <a:ext cx="4572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971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b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Ayyaz Qamar</a:t>
            </a:r>
            <a:br>
              <a:rPr lang="en-US" sz="13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Hamza</a:t>
            </a:r>
            <a:br>
              <a:rPr lang="en-US" sz="13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Ahmed</a:t>
            </a:r>
          </a:p>
        </p:txBody>
      </p:sp>
      <p:sp>
        <p:nvSpPr>
          <p:cNvPr id="12" name="Text 10"/>
          <p:cNvSpPr/>
          <p:nvPr/>
        </p:nvSpPr>
        <p:spPr>
          <a:xfrm>
            <a:off x="274320" y="269748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2697480"/>
            <a:ext cx="859536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388620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16653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886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MobileNetV2 CNN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F0F"/>
          </a:solidFill>
          <a:ln w="12700">
            <a:solidFill>
              <a:srgbClr val="0D1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10149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3624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CaneGuard AI is needed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4767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47672"/>
            <a:ext cx="64008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3911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96112" y="20025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Features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350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3522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35224"/>
            <a:ext cx="64008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2666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6112" y="29900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AI approach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92277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22776"/>
            <a:ext cx="64008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142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96112" y="39776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325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CNN details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60120"/>
            <a:ext cx="64008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0515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76672" y="10149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13624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4767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47672"/>
            <a:ext cx="64008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03911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76672" y="20025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Demo &amp; UI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76672" y="2350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3522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35224"/>
            <a:ext cx="64008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02666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376672" y="29900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76672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840480"/>
          </a:xfrm>
          <a:prstGeom prst="rect">
            <a:avLst/>
          </a:prstGeom>
          <a:solidFill>
            <a:srgbClr val="0D2B0F">
              <a:alpha val="80000"/>
            </a:srgbClr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is a major sugarcane producer — crop diseases cause huge losses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is slow, costly, and unreliable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066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expert availability in rural farming areas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2841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 leads to widespread crop damage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95020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access to treatment guidance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206240" cy="3840480"/>
          </a:xfrm>
          <a:prstGeom prst="rect">
            <a:avLst/>
          </a:prstGeom>
          <a:solidFill>
            <a:srgbClr val="0D2B0F">
              <a:alpha val="80000"/>
            </a:srgbClr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instant disease detection from leaf images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08483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CNN with 87%+ 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7066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interface — English &amp; Urdu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32841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Weather-based disease risk forecasting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95020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treatment recommendations + PDF reports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F0F"/>
          </a:solidFill>
          <a:ln w="12700">
            <a:solidFill>
              <a:srgbClr val="0D1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247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78408" y="1124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upload, Video analysis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Live webcam capture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43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247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🌤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50208" y="1124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Integration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forecast with disease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assessment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60120"/>
            <a:ext cx="2743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1247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22008" y="11247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Guide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Fungicide, fertilizer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 recommendations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9718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71800"/>
            <a:ext cx="2743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36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78408" y="31363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diagnosis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for records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71800"/>
            <a:ext cx="2743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136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950208" y="31363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&amp; Urdu language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farmers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9718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971800"/>
            <a:ext cx="2743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136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922008" y="31363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Tracking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scan history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filter &amp; search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F0F"/>
          </a:solidFill>
          <a:ln w="12700">
            <a:solidFill>
              <a:srgbClr val="0D1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Dataset — 7,500 Total Images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1399032"/>
            <a:ext cx="320040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1399032"/>
            <a:ext cx="320040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25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images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9842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00200" y="2057400"/>
            <a:ext cx="320040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2057400"/>
            <a:ext cx="320040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98424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images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64261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Rot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00200" y="2715768"/>
            <a:ext cx="320040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2715768"/>
            <a:ext cx="320040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64261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images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30098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00200" y="3374136"/>
            <a:ext cx="320040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3374136"/>
            <a:ext cx="320040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30098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images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95935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00200" y="4032504"/>
            <a:ext cx="320040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4032504"/>
            <a:ext cx="3200400" cy="2560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9593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images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617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1554480" cy="292608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63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75% — 5,625 images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0" y="4663440"/>
            <a:ext cx="1554480" cy="292608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4663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15% — 1,125 images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49040" y="4663440"/>
            <a:ext cx="1554480" cy="292608"/>
          </a:xfrm>
          <a:prstGeom prst="rect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4663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10% — 750 images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60720" y="868680"/>
            <a:ext cx="3108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0" y="960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0" y="138988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 &amp; Augmentation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0" y="188366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Dataset Split (75/15/10)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43600" y="2377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MobileNetV2 Base Model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43600" y="287121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Phase 1 — Base Frozen Training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43600" y="33649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Phase 2 — Fine Tune Last 30 Layers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943600" y="385876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Phase 3 — Deep Fine Tuning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0" y="435254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Evaluation on Test Set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MobileNetV2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22960" cy="256032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246888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97280" y="2176272"/>
            <a:ext cx="146304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3584" y="1005840"/>
            <a:ext cx="822960" cy="25603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105156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43584" y="246888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Rotate, Zoom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66544" y="2176272"/>
            <a:ext cx="146304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12848" y="1005840"/>
            <a:ext cx="822960" cy="25603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105156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12848" y="246888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÷255 normalize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035808" y="2176272"/>
            <a:ext cx="146304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2112" y="1005840"/>
            <a:ext cx="822960" cy="2560320"/>
          </a:xfrm>
          <a:prstGeom prst="rect">
            <a:avLst/>
          </a:prstGeom>
          <a:solidFill>
            <a:srgbClr val="166534">
              <a:alpha val="70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105156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Base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82112" y="246888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005072" y="2176272"/>
            <a:ext cx="146304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51376" y="1005840"/>
            <a:ext cx="822960" cy="2560320"/>
          </a:xfrm>
          <a:prstGeom prst="rect">
            <a:avLst/>
          </a:prstGeom>
          <a:solidFill>
            <a:srgbClr val="166534">
              <a:alpha val="70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51376" y="105156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GlobalAvgPooling2D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51376" y="246888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974336" y="2176272"/>
            <a:ext cx="146304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1005840"/>
            <a:ext cx="822960" cy="2560320"/>
          </a:xfrm>
          <a:prstGeom prst="rect">
            <a:avLst/>
          </a:prstGeom>
          <a:solidFill>
            <a:srgbClr val="6D28D9">
              <a:alpha val="7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05156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BatchNormalization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20640" y="246888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943600" y="2176272"/>
            <a:ext cx="146304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9904" y="1005840"/>
            <a:ext cx="822960" cy="256032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9904" y="105156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512 + Drop 0.5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89904" y="246888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912864" y="2176272"/>
            <a:ext cx="146304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59168" y="1005840"/>
            <a:ext cx="822960" cy="256032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9168" y="105156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256 + Drop 0.3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59168" y="246888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882128" y="2176272"/>
            <a:ext cx="146304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28432" y="1005840"/>
            <a:ext cx="822960" cy="2560320"/>
          </a:xfrm>
          <a:prstGeom prst="rect">
            <a:avLst/>
          </a:prstGeom>
          <a:solidFill>
            <a:srgbClr val="16A34A">
              <a:alpha val="7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28432" y="105156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5 — Softmax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28432" y="246888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Disease Classes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3931920"/>
            <a:ext cx="2743200" cy="914400"/>
          </a:xfrm>
          <a:prstGeom prst="rect">
            <a:avLst/>
          </a:prstGeom>
          <a:solidFill>
            <a:srgbClr val="0D2B0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5760" y="4005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42793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frozen — lr=1e-3 — 25 epochs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45354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 val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0" y="3931920"/>
            <a:ext cx="2743200" cy="914400"/>
          </a:xfrm>
          <a:prstGeom prst="rect">
            <a:avLst/>
          </a:prstGeom>
          <a:solidFill>
            <a:srgbClr val="0D2B0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291840" y="4005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91840" y="42793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layers — lr=1e-4 — 35 epochs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91840" y="45354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91.5% val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26480" y="3931920"/>
            <a:ext cx="2743200" cy="914400"/>
          </a:xfrm>
          <a:prstGeom prst="rect">
            <a:avLst/>
          </a:prstGeom>
          <a:solidFill>
            <a:srgbClr val="0D2B0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17920" y="4005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217920" y="42793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layers — lr=5e-6 — 40 epochs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45354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 val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F0F"/>
          </a:solidFill>
          <a:ln w="12700">
            <a:solidFill>
              <a:srgbClr val="0D1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19202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241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88.93%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91440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241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2316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914400"/>
            <a:ext cx="1920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0241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9144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914400"/>
            <a:ext cx="19202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0241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88.92%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1228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2331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 Performance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1234440" cy="3200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697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36192" y="2697480"/>
            <a:ext cx="1234440" cy="3200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36192" y="2697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98064" y="2697480"/>
            <a:ext cx="1234440" cy="3200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98064" y="2697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59936" y="2697480"/>
            <a:ext cx="1234440" cy="3200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9936" y="2697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035808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03580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536192" y="3035808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303580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98064" y="3035808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98064" y="303580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059936" y="3035808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59936" y="303580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383280"/>
            <a:ext cx="1234440" cy="329184"/>
          </a:xfrm>
          <a:prstGeom prst="rect">
            <a:avLst/>
          </a:prstGeom>
          <a:solidFill>
            <a:srgbClr val="F9FF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3832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536192" y="3383280"/>
            <a:ext cx="1234440" cy="329184"/>
          </a:xfrm>
          <a:prstGeom prst="rect">
            <a:avLst/>
          </a:prstGeom>
          <a:solidFill>
            <a:srgbClr val="F9FF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36192" y="33832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98064" y="3383280"/>
            <a:ext cx="1234440" cy="329184"/>
          </a:xfrm>
          <a:prstGeom prst="rect">
            <a:avLst/>
          </a:prstGeom>
          <a:solidFill>
            <a:srgbClr val="F9FF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98064" y="33832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059936" y="3383280"/>
            <a:ext cx="1234440" cy="329184"/>
          </a:xfrm>
          <a:prstGeom prst="rect">
            <a:avLst/>
          </a:prstGeom>
          <a:solidFill>
            <a:srgbClr val="F9FF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59936" y="33832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730752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7307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Rot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536192" y="3730752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36192" y="37307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798064" y="3730752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98064" y="37307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059936" y="3730752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59936" y="37307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078224"/>
            <a:ext cx="1234440" cy="329184"/>
          </a:xfrm>
          <a:prstGeom prst="rect">
            <a:avLst/>
          </a:prstGeom>
          <a:solidFill>
            <a:srgbClr val="F9FF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07822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536192" y="4078224"/>
            <a:ext cx="1234440" cy="329184"/>
          </a:xfrm>
          <a:prstGeom prst="rect">
            <a:avLst/>
          </a:prstGeom>
          <a:solidFill>
            <a:srgbClr val="F9FF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36192" y="407822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798064" y="4078224"/>
            <a:ext cx="1234440" cy="329184"/>
          </a:xfrm>
          <a:prstGeom prst="rect">
            <a:avLst/>
          </a:prstGeom>
          <a:solidFill>
            <a:srgbClr val="F9FF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98064" y="407822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059936" y="4078224"/>
            <a:ext cx="1234440" cy="329184"/>
          </a:xfrm>
          <a:prstGeom prst="rect">
            <a:avLst/>
          </a:prstGeom>
          <a:solidFill>
            <a:srgbClr val="F9FF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59936" y="407822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74320" y="4425696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42569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536192" y="4425696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36192" y="442569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798064" y="4425696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98064" y="442569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059936" y="4425696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59936" y="442569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577840" y="86868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760720" y="9601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Improvement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76072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760720" y="1764792"/>
            <a:ext cx="2926080" cy="2286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60720" y="1764792"/>
            <a:ext cx="2402312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412480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82.10%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760720" y="22219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760720" y="2569464"/>
            <a:ext cx="2926080" cy="2286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60720" y="2569464"/>
            <a:ext cx="2550371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12480" y="2542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87.16%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760720" y="3026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760720" y="3374136"/>
            <a:ext cx="2926080" cy="2286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760720" y="3374136"/>
            <a:ext cx="2602163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412480" y="33467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88.93%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5760720" y="38313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760720" y="4178808"/>
            <a:ext cx="2926080" cy="2286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60720" y="4178808"/>
            <a:ext cx="2692579" cy="2286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412480" y="41513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92.02%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Demo &amp; User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783080"/>
          </a:xfrm>
          <a:prstGeom prst="rect">
            <a:avLst/>
          </a:prstGeom>
          <a:solidFill>
            <a:srgbClr val="0D2B0F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1069848"/>
            <a:ext cx="2523744" cy="1005840"/>
          </a:xfrm>
          <a:prstGeom prst="rect">
            <a:avLst/>
          </a:prstGeom>
          <a:solidFill>
            <a:srgbClr val="166534">
              <a:alpha val="4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28016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language toggle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783080"/>
          </a:xfrm>
          <a:prstGeom prst="rect">
            <a:avLst/>
          </a:prstGeom>
          <a:solidFill>
            <a:srgbClr val="0D2B0F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10128" y="1069848"/>
            <a:ext cx="2523744" cy="1005840"/>
          </a:xfrm>
          <a:prstGeom prst="rect">
            <a:avLst/>
          </a:prstGeom>
          <a:solidFill>
            <a:srgbClr val="166534">
              <a:alpha val="4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28016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recent scans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disease distribution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743200" cy="1783080"/>
          </a:xfrm>
          <a:prstGeom prst="rect">
            <a:avLst/>
          </a:prstGeom>
          <a:solidFill>
            <a:srgbClr val="0D2B0F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1928" y="1069848"/>
            <a:ext cx="2523744" cy="1005840"/>
          </a:xfrm>
          <a:prstGeom prst="rect">
            <a:avLst/>
          </a:prstGeom>
          <a:solidFill>
            <a:srgbClr val="166534">
              <a:alpha val="4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128016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Results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1488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Disease, confidence,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&amp; weather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2743200" cy="1783080"/>
          </a:xfrm>
          <a:prstGeom prst="rect">
            <a:avLst/>
          </a:prstGeom>
          <a:solidFill>
            <a:srgbClr val="0D2B0F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" y="3081528"/>
            <a:ext cx="2523744" cy="1005840"/>
          </a:xfrm>
          <a:prstGeom prst="rect">
            <a:avLst/>
          </a:prstGeom>
          <a:solidFill>
            <a:srgbClr val="166534">
              <a:alpha val="4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29184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41605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forecast with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risk levels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1783080"/>
          </a:xfrm>
          <a:prstGeom prst="rect">
            <a:avLst/>
          </a:prstGeom>
          <a:solidFill>
            <a:srgbClr val="0D2B0F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0128" y="3081528"/>
            <a:ext cx="2523744" cy="1005840"/>
          </a:xfrm>
          <a:prstGeom prst="rect">
            <a:avLst/>
          </a:prstGeom>
          <a:solidFill>
            <a:srgbClr val="166534">
              <a:alpha val="4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29184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41605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diagnosis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2971800"/>
            <a:ext cx="2743200" cy="1783080"/>
          </a:xfrm>
          <a:prstGeom prst="rect">
            <a:avLst/>
          </a:prstGeom>
          <a:solidFill>
            <a:srgbClr val="0D2B0F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81928" y="3081528"/>
            <a:ext cx="2523744" cy="1005840"/>
          </a:xfrm>
          <a:prstGeom prst="rect">
            <a:avLst/>
          </a:prstGeom>
          <a:solidFill>
            <a:srgbClr val="166534">
              <a:alpha val="4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329184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41605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language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profile management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Python  |  Flask  |  TensorFlow  |  SQLite  |  OpenWeatherMap API  |  FPDF2  |  OpenCV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F0F"/>
          </a:solidFill>
          <a:ln w="12700">
            <a:solidFill>
              <a:srgbClr val="0D1F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AI-powered sugarcane disease detection system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achieved 88.93% test accuracy and 92% validation accuracy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diseases classified: Healthy, Red Rot, Mosaic, Yellow Leaf, Rust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web application with bilingual support (EN/UR)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integration for disease risk forecasting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 for agricultural record keeping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1440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to 3000+ images per class for 95%+ accuracy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20116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Android/iOS mobile application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drone imagery for field-scale detection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31089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crop diseases (wheat, cotton)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365760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disease outbreak alert system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42062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cloud server for 24/7 availability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74" y="1"/>
            <a:ext cx="3248526" cy="3337560"/>
          </a:xfrm>
          <a:prstGeom prst="ellipse">
            <a:avLst/>
          </a:prstGeom>
          <a:solidFill>
            <a:srgbClr val="166534">
              <a:alpha val="25000"/>
            </a:srgbClr>
          </a:solidFill>
          <a:ln w="12700">
            <a:solidFill>
              <a:srgbClr val="16653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73331" y="781812"/>
            <a:ext cx="3657600" cy="3657600"/>
          </a:xfrm>
          <a:prstGeom prst="ellipse">
            <a:avLst/>
          </a:prstGeom>
          <a:solidFill>
            <a:srgbClr val="166534">
              <a:alpha val="25000"/>
            </a:srgbClr>
          </a:solidFill>
          <a:ln w="12700">
            <a:solidFill>
              <a:srgbClr val="16653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6534">
              <a:alpha val="40000"/>
            </a:srgbClr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46935"/>
            <a:ext cx="2532647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28700" y="1691640"/>
            <a:ext cx="76581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36495" y="2310207"/>
            <a:ext cx="3555332" cy="45719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29464" y="2610612"/>
            <a:ext cx="137310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85021" y="3481939"/>
            <a:ext cx="24147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Ayyaz Qamar   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Hamza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itchFamily="34" charset="0"/>
                <a:cs typeface="Calibri" pitchFamily="34" charset="-120"/>
              </a:rPr>
              <a:t>Amir Ahmed</a:t>
            </a:r>
            <a:endParaRPr lang="en-US" sz="20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293644" y="2480716"/>
            <a:ext cx="36576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Data Science &amp; AI  KFUEIT Rahim Yar Khan   22-26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82353" y="2832145"/>
            <a:ext cx="35553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CaneGuard AI _ Automated Sugarcane Disease Detection System</a:t>
            </a:r>
            <a:endParaRPr lang="en-US" sz="1000" dirty="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539F6ACF-C724-D9AE-90D8-EA4840E7B2AB}"/>
              </a:ext>
            </a:extLst>
          </p:cNvPr>
          <p:cNvSpPr/>
          <p:nvPr/>
        </p:nvSpPr>
        <p:spPr>
          <a:xfrm>
            <a:off x="6626390" y="2444905"/>
            <a:ext cx="2466473" cy="2333947"/>
          </a:xfrm>
          <a:prstGeom prst="ellipse">
            <a:avLst/>
          </a:prstGeom>
          <a:solidFill>
            <a:srgbClr val="166534">
              <a:alpha val="25000"/>
            </a:srgbClr>
          </a:solidFill>
          <a:ln w="12700">
            <a:solidFill>
              <a:srgbClr val="16653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EF400D3F-C024-D082-2F5D-C1866B42E247}"/>
              </a:ext>
            </a:extLst>
          </p:cNvPr>
          <p:cNvSpPr/>
          <p:nvPr/>
        </p:nvSpPr>
        <p:spPr>
          <a:xfrm>
            <a:off x="6686926" y="1038065"/>
            <a:ext cx="1540042" cy="1406840"/>
          </a:xfrm>
          <a:prstGeom prst="ellipse">
            <a:avLst/>
          </a:prstGeom>
          <a:solidFill>
            <a:srgbClr val="166534">
              <a:alpha val="25000"/>
            </a:srgbClr>
          </a:solidFill>
          <a:ln w="12700">
            <a:solidFill>
              <a:srgbClr val="166534">
                <a:alpha val="25000"/>
              </a:srgbClr>
            </a:solidFill>
            <a:prstDash val="solid"/>
          </a:ln>
        </p:spPr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FA64B936-3DD6-84C0-83E5-D904CB74E140}"/>
              </a:ext>
            </a:extLst>
          </p:cNvPr>
          <p:cNvSpPr/>
          <p:nvPr/>
        </p:nvSpPr>
        <p:spPr>
          <a:xfrm>
            <a:off x="1923925" y="3125947"/>
            <a:ext cx="1540042" cy="1406840"/>
          </a:xfrm>
          <a:prstGeom prst="ellipse">
            <a:avLst/>
          </a:prstGeom>
          <a:solidFill>
            <a:srgbClr val="166534">
              <a:alpha val="25000"/>
            </a:srgbClr>
          </a:solidFill>
          <a:ln w="12700">
            <a:solidFill>
              <a:srgbClr val="166534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741</Words>
  <Application>Microsoft Office PowerPoint</Application>
  <PresentationFormat>On-screen Show (16:9)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CaneGuard AI — FYP Presentation</dc:title>
  <dc:subject>PptxGenJS Presentation</dc:subject>
  <dc:creator>PptxGenJS</dc:creator>
  <cp:lastModifiedBy>BRE_80_HE .</cp:lastModifiedBy>
  <cp:revision>2</cp:revision>
  <dcterms:created xsi:type="dcterms:W3CDTF">2026-04-21T03:34:55Z</dcterms:created>
  <dcterms:modified xsi:type="dcterms:W3CDTF">2026-04-21T03:57:56Z</dcterms:modified>
</cp:coreProperties>
</file>